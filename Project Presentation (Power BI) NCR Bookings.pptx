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56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6"/>
    <p:sldId id="264" r:id="rId7"/>
    <p:sldId id="262" r:id="rId8"/>
    <p:sldId id="266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88027-EB3A-4619-986E-E5273C0164FB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8F3CC9-4517-4A47-B94D-F100BB4AAD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54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8F3CC9-4517-4A47-B94D-F100BB4AADC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341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298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78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721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7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582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438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16731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756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8931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74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001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18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49254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039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42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4221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5314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729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9337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6511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6512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2402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11203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3673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473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492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9867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7943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89489A10-9FD9-4C3F-A6F0-5570F6CC3E0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A85CC68-FAE4-4188-9777-4CAEA592C7AB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4639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57" r:id="rId1"/>
    <p:sldLayoutId id="2147484258" r:id="rId2"/>
    <p:sldLayoutId id="2147484259" r:id="rId3"/>
    <p:sldLayoutId id="2147484260" r:id="rId4"/>
    <p:sldLayoutId id="2147484261" r:id="rId5"/>
    <p:sldLayoutId id="2147484262" r:id="rId6"/>
    <p:sldLayoutId id="2147484263" r:id="rId7"/>
    <p:sldLayoutId id="2147484264" r:id="rId8"/>
    <p:sldLayoutId id="2147484265" r:id="rId9"/>
    <p:sldLayoutId id="2147484266" r:id="rId10"/>
    <p:sldLayoutId id="2147484267" r:id="rId11"/>
    <p:sldLayoutId id="2147484268" r:id="rId12"/>
    <p:sldLayoutId id="2147484269" r:id="rId13"/>
    <p:sldLayoutId id="2147484270" r:id="rId14"/>
    <p:sldLayoutId id="2147484271" r:id="rId15"/>
    <p:sldLayoutId id="2147484272" r:id="rId16"/>
    <p:sldLayoutId id="2147484273" r:id="rId17"/>
    <p:sldLayoutId id="2147484274" r:id="rId18"/>
    <p:sldLayoutId id="2147484275" r:id="rId19"/>
    <p:sldLayoutId id="2147484276" r:id="rId20"/>
    <p:sldLayoutId id="2147484277" r:id="rId21"/>
    <p:sldLayoutId id="2147484278" r:id="rId22"/>
    <p:sldLayoutId id="2147484279" r:id="rId23"/>
    <p:sldLayoutId id="2147484280" r:id="rId24"/>
    <p:sldLayoutId id="2147484281" r:id="rId25"/>
    <p:sldLayoutId id="2147484282" r:id="rId26"/>
    <p:sldLayoutId id="2147484283" r:id="rId27"/>
    <p:sldLayoutId id="2147484284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igital financial graph">
            <a:extLst>
              <a:ext uri="{FF2B5EF4-FFF2-40B4-BE49-F238E27FC236}">
                <a16:creationId xmlns:a16="http://schemas.microsoft.com/office/drawing/2014/main" id="{5D0E5A8D-42C4-E18F-DF30-908539EEB4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"/>
          <a:stretch>
            <a:fillRect/>
          </a:stretch>
        </p:blipFill>
        <p:spPr>
          <a:xfrm>
            <a:off x="20" y="10058"/>
            <a:ext cx="12188932" cy="685799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B589E1-9A8D-1CCD-889C-FC9A06B9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r>
              <a:rPr lang="en-IN" dirty="0">
                <a:solidFill>
                  <a:schemeClr val="bg2"/>
                </a:solidFill>
              </a:rPr>
              <a:t>NCR Ride Booking Analytics: Driving Insights Through Data</a:t>
            </a:r>
          </a:p>
        </p:txBody>
      </p:sp>
      <p:sp>
        <p:nvSpPr>
          <p:cNvPr id="12" name="Subtitle 3">
            <a:extLst>
              <a:ext uri="{FF2B5EF4-FFF2-40B4-BE49-F238E27FC236}">
                <a16:creationId xmlns:a16="http://schemas.microsoft.com/office/drawing/2014/main" id="{DEC35CE2-308D-7115-393F-8A2688F50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JERIN.P.AZEEZ</a:t>
            </a:r>
          </a:p>
        </p:txBody>
      </p:sp>
    </p:spTree>
    <p:extLst>
      <p:ext uri="{BB962C8B-B14F-4D97-AF65-F5344CB8AC3E}">
        <p14:creationId xmlns:p14="http://schemas.microsoft.com/office/powerpoint/2010/main" val="783306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6B79BE5-4792-AA86-9264-C3C80CC4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2161DF3-C9AE-2FEC-3372-CC29B74B084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lnSpc>
                <a:spcPct val="110000"/>
              </a:lnSpc>
            </a:pPr>
            <a:r>
              <a:rPr lang="en-IN" sz="1200"/>
              <a:t>Ride-booking platforms generate large volumes of data related to bookings, customers, drivers, vehicles, payments, and trip performance. </a:t>
            </a:r>
          </a:p>
          <a:p>
            <a:pPr lvl="0">
              <a:lnSpc>
                <a:spcPct val="110000"/>
              </a:lnSpc>
            </a:pPr>
            <a:r>
              <a:rPr lang="en-IN" sz="1200"/>
              <a:t>This project uses </a:t>
            </a:r>
            <a:r>
              <a:rPr lang="en-IN" sz="1200" b="1"/>
              <a:t>Power BI</a:t>
            </a:r>
            <a:r>
              <a:rPr lang="en-IN" sz="1200"/>
              <a:t> to transform ride-booking data into meaningful visual insights. </a:t>
            </a:r>
          </a:p>
          <a:p>
            <a:pPr lvl="0">
              <a:lnSpc>
                <a:spcPct val="110000"/>
              </a:lnSpc>
            </a:pPr>
            <a:r>
              <a:rPr lang="en-IN" sz="1200"/>
              <a:t>The analysis focuses on understanding: </a:t>
            </a:r>
          </a:p>
          <a:p>
            <a:pPr marL="5143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1200"/>
              <a:t>Booking trends and performance </a:t>
            </a:r>
          </a:p>
          <a:p>
            <a:pPr marL="5143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1200"/>
              <a:t>Booking status distribution </a:t>
            </a:r>
          </a:p>
          <a:p>
            <a:pPr marL="5143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1200"/>
              <a:t>Payment preferences </a:t>
            </a:r>
          </a:p>
          <a:p>
            <a:pPr marL="5143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1200"/>
              <a:t>Vehicle performance </a:t>
            </a:r>
          </a:p>
          <a:p>
            <a:pPr marL="5143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1200"/>
              <a:t>Customer and driver cancellations </a:t>
            </a:r>
          </a:p>
          <a:p>
            <a:pPr marL="5143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1200"/>
              <a:t>Ride distance </a:t>
            </a:r>
          </a:p>
          <a:p>
            <a:pPr marL="5143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1200"/>
              <a:t>Customer and driver ratings </a:t>
            </a:r>
          </a:p>
          <a:p>
            <a:pPr>
              <a:lnSpc>
                <a:spcPct val="110000"/>
              </a:lnSpc>
            </a:pPr>
            <a:r>
              <a:rPr lang="en-IN" sz="1200" b="1"/>
              <a:t>Objective:</a:t>
            </a:r>
            <a:br>
              <a:rPr lang="en-IN" sz="1200"/>
            </a:br>
            <a:r>
              <a:rPr lang="en-IN" sz="1200"/>
              <a:t>To build an interactive analytics dashboard that helps identify important patterns and performance indicators in ride-booking operations.</a:t>
            </a:r>
          </a:p>
          <a:p>
            <a:pPr>
              <a:lnSpc>
                <a:spcPct val="110000"/>
              </a:lnSpc>
            </a:pPr>
            <a:endParaRPr lang="en-US" sz="1200"/>
          </a:p>
        </p:txBody>
      </p:sp>
      <p:pic>
        <p:nvPicPr>
          <p:cNvPr id="12" name="Picture 11" descr="Long exposure of lights">
            <a:extLst>
              <a:ext uri="{FF2B5EF4-FFF2-40B4-BE49-F238E27FC236}">
                <a16:creationId xmlns:a16="http://schemas.microsoft.com/office/drawing/2014/main" id="{31489DD5-5019-DD83-68FF-76F0D7A0FF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93" r="20106" b="-1"/>
          <a:stretch>
            <a:fillRect/>
          </a:stretch>
        </p:blipFill>
        <p:spPr>
          <a:xfrm>
            <a:off x="7620000" y="10"/>
            <a:ext cx="457200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8843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9A038A5-2E52-A754-7CDB-B05A45F4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 anchor="b">
            <a:normAutofit/>
          </a:bodyPr>
          <a:lstStyle/>
          <a:p>
            <a:r>
              <a:rPr lang="en-IN" dirty="0"/>
              <a:t>Dashboard Key Insights</a:t>
            </a:r>
            <a:endParaRPr lang="en-US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AA6A085-EA20-061F-F795-522FBEC64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/>
          <a:lstStyle/>
          <a:p>
            <a:r>
              <a:rPr lang="en-US" u="sng" dirty="0"/>
              <a:t>Dashboard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18CA8671-EC30-8FC4-C132-36D79FA5CE92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83" y="2308628"/>
            <a:ext cx="6168608" cy="3423578"/>
          </a:xfrm>
          <a:prstGeom prst="rect">
            <a:avLst/>
          </a:prstGeom>
          <a:noFill/>
        </p:spPr>
      </p:pic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7E4BF246-17AF-99C6-5535-708D5CF2F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/>
          <a:lstStyle/>
          <a:p>
            <a:r>
              <a:rPr lang="en-US" u="sng" dirty="0"/>
              <a:t>INSIGHTS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6A219C9-78FB-A568-6FD0-9C616CB73A7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</a:pPr>
            <a:r>
              <a:rPr lang="en-IN" sz="1200" b="1"/>
              <a:t>150K total bookings</a:t>
            </a:r>
            <a:r>
              <a:rPr lang="en-IN" sz="1200"/>
              <a:t> analyzed across 2024. </a:t>
            </a:r>
          </a:p>
          <a:p>
            <a:pPr lvl="0">
              <a:lnSpc>
                <a:spcPct val="110000"/>
              </a:lnSpc>
            </a:pPr>
            <a:r>
              <a:rPr lang="en-IN" sz="1200" b="1"/>
              <a:t>62% of bookings were completed</a:t>
            </a:r>
            <a:r>
              <a:rPr lang="en-IN" sz="1200"/>
              <a:t>, indicating strong overall ride fulfillment. </a:t>
            </a:r>
          </a:p>
          <a:p>
            <a:pPr lvl="0">
              <a:lnSpc>
                <a:spcPct val="110000"/>
              </a:lnSpc>
            </a:pPr>
            <a:r>
              <a:rPr lang="en-IN" sz="1200" b="1"/>
              <a:t>Average Driver Rating:</a:t>
            </a:r>
            <a:r>
              <a:rPr lang="en-IN" sz="1200"/>
              <a:t> </a:t>
            </a:r>
            <a:r>
              <a:rPr lang="en-IN" sz="1200" b="1"/>
              <a:t>4.23/5</a:t>
            </a:r>
            <a:r>
              <a:rPr lang="en-IN" sz="1200"/>
              <a:t> </a:t>
            </a:r>
          </a:p>
          <a:p>
            <a:pPr lvl="0">
              <a:lnSpc>
                <a:spcPct val="110000"/>
              </a:lnSpc>
            </a:pPr>
            <a:r>
              <a:rPr lang="en-IN" sz="1200" b="1"/>
              <a:t>Average Customer Rating:</a:t>
            </a:r>
            <a:r>
              <a:rPr lang="en-IN" sz="1200"/>
              <a:t>  </a:t>
            </a:r>
            <a:r>
              <a:rPr lang="en-IN" sz="1200" b="1"/>
              <a:t>4.40/5</a:t>
            </a:r>
            <a:r>
              <a:rPr lang="en-IN" sz="1200"/>
              <a:t> </a:t>
            </a:r>
          </a:p>
          <a:p>
            <a:pPr lvl="0">
              <a:lnSpc>
                <a:spcPct val="110000"/>
              </a:lnSpc>
            </a:pPr>
            <a:r>
              <a:rPr lang="en-IN" sz="1200" b="1"/>
              <a:t>Auto</a:t>
            </a:r>
            <a:r>
              <a:rPr lang="en-IN" sz="1200"/>
              <a:t> recorded the </a:t>
            </a:r>
            <a:r>
              <a:rPr lang="en-IN" sz="1200" b="1"/>
              <a:t>highest total ride distance</a:t>
            </a:r>
            <a:r>
              <a:rPr lang="en-IN" sz="1200"/>
              <a:t> among vehicle types. </a:t>
            </a:r>
          </a:p>
          <a:p>
            <a:pPr lvl="0">
              <a:lnSpc>
                <a:spcPct val="110000"/>
              </a:lnSpc>
            </a:pPr>
            <a:r>
              <a:rPr lang="en-IN" sz="1200" b="1"/>
              <a:t>UPI</a:t>
            </a:r>
            <a:r>
              <a:rPr lang="en-IN" sz="1200"/>
              <a:t> generated the </a:t>
            </a:r>
            <a:r>
              <a:rPr lang="en-IN" sz="1200" b="1"/>
              <a:t>highest booking value</a:t>
            </a:r>
            <a:r>
              <a:rPr lang="en-IN" sz="1200"/>
              <a:t>, followed by Cash and Uber Wallet. </a:t>
            </a:r>
          </a:p>
          <a:p>
            <a:pPr lvl="0">
              <a:lnSpc>
                <a:spcPct val="110000"/>
              </a:lnSpc>
            </a:pPr>
            <a:r>
              <a:rPr lang="en-IN" sz="1200" b="1"/>
              <a:t>Cancellations</a:t>
            </a:r>
            <a:r>
              <a:rPr lang="en-IN" sz="1200"/>
              <a:t> remain a key challenge, with both driver- and customer-related factors contributing significantly. </a:t>
            </a:r>
          </a:p>
          <a:p>
            <a:pPr lvl="0">
              <a:lnSpc>
                <a:spcPct val="110000"/>
              </a:lnSpc>
            </a:pPr>
            <a:r>
              <a:rPr lang="en-IN" sz="1200" b="1"/>
              <a:t>Booking value fluctuated throughout 2024</a:t>
            </a:r>
            <a:r>
              <a:rPr lang="en-IN" sz="1200"/>
              <a:t>, showing noticeable peaks and dips in daily revenue. </a:t>
            </a:r>
          </a:p>
          <a:p>
            <a:pPr lvl="0">
              <a:lnSpc>
                <a:spcPct val="110000"/>
              </a:lnSpc>
            </a:pPr>
            <a:r>
              <a:rPr lang="en-IN" sz="1200" b="1"/>
              <a:t>Key improvement area:</a:t>
            </a:r>
            <a:r>
              <a:rPr lang="en-IN" sz="1200"/>
              <a:t> Reduce cancellations and improve ride completion to enhance </a:t>
            </a:r>
            <a:r>
              <a:rPr lang="en-IN" sz="1200" b="1"/>
              <a:t>revenue and customer experience</a:t>
            </a:r>
            <a:r>
              <a:rPr lang="en-IN" sz="1200"/>
              <a:t>.</a:t>
            </a:r>
          </a:p>
          <a:p>
            <a:pPr>
              <a:lnSpc>
                <a:spcPct val="110000"/>
              </a:lnSpc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14748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7E7D20E-617C-AF5C-5396-7B929B2DA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786581"/>
          </a:xfrm>
        </p:spPr>
        <p:txBody>
          <a:bodyPr anchor="b">
            <a:normAutofit/>
          </a:bodyPr>
          <a:lstStyle/>
          <a:p>
            <a:r>
              <a:rPr lang="en-IN" dirty="0"/>
              <a:t>Booking Overview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46B2FB-2FB5-DEB1-3E8E-A4C46FD54B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2064774"/>
            <a:ext cx="5214146" cy="3665466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IN" b="1" dirty="0"/>
              <a:t>Key Performance Indicators</a:t>
            </a:r>
          </a:p>
          <a:p>
            <a:pPr lvl="0" algn="just"/>
            <a:r>
              <a:rPr lang="en-IN" b="1" dirty="0"/>
              <a:t>150K total bookings</a:t>
            </a:r>
            <a:r>
              <a:rPr lang="en-IN" dirty="0"/>
              <a:t> were recorded. </a:t>
            </a:r>
          </a:p>
          <a:p>
            <a:pPr lvl="0" algn="just"/>
            <a:r>
              <a:rPr lang="en-IN" b="1" dirty="0"/>
              <a:t>Completed rides dominate at 62% (93K)</a:t>
            </a:r>
            <a:r>
              <a:rPr lang="en-IN" dirty="0"/>
              <a:t>, indicating a strong completion rate. </a:t>
            </a:r>
          </a:p>
          <a:p>
            <a:pPr lvl="0" algn="just"/>
            <a:r>
              <a:rPr lang="en-IN" b="1" dirty="0"/>
              <a:t>Driver cancellations account for 18% (27K)</a:t>
            </a:r>
            <a:r>
              <a:rPr lang="en-IN" dirty="0"/>
              <a:t> — the largest source of unsuccessful bookings. </a:t>
            </a:r>
          </a:p>
          <a:p>
            <a:pPr lvl="0" algn="just"/>
            <a:r>
              <a:rPr lang="en-IN" b="1" dirty="0"/>
              <a:t>Customer cancellations and no-driver-found cases contribute 7% each (10.5K).</a:t>
            </a:r>
            <a:r>
              <a:rPr lang="en-IN" dirty="0"/>
              <a:t> </a:t>
            </a:r>
          </a:p>
          <a:p>
            <a:pPr lvl="0" algn="just"/>
            <a:r>
              <a:rPr lang="en-IN" b="1" dirty="0"/>
              <a:t>Incomplete rides are lowest at 6% (9K).</a:t>
            </a:r>
            <a:r>
              <a:rPr lang="en-IN" dirty="0"/>
              <a:t> </a:t>
            </a:r>
          </a:p>
          <a:p>
            <a:pPr algn="just"/>
            <a:r>
              <a:rPr lang="en-IN" b="1" dirty="0"/>
              <a:t>Key Insight:</a:t>
            </a:r>
            <a:r>
              <a:rPr lang="en-IN" dirty="0"/>
              <a:t> While most rides are successfully completed, </a:t>
            </a:r>
            <a:r>
              <a:rPr lang="en-IN" b="1" dirty="0"/>
              <a:t>driver cancellations are the biggest operational concern</a:t>
            </a:r>
            <a:r>
              <a:rPr lang="en-IN" dirty="0"/>
              <a:t> and offer the clearest opportunity for improvement</a:t>
            </a:r>
          </a:p>
          <a:p>
            <a:pPr algn="just">
              <a:lnSpc>
                <a:spcPct val="110000"/>
              </a:lnSpc>
            </a:pPr>
            <a:endParaRPr lang="en-IN" dirty="0"/>
          </a:p>
          <a:p>
            <a:pPr algn="just">
              <a:lnSpc>
                <a:spcPct val="110000"/>
              </a:lnSpc>
            </a:pPr>
            <a:r>
              <a:rPr lang="en-IN" b="1" dirty="0"/>
              <a:t>Focus:</a:t>
            </a:r>
            <a:r>
              <a:rPr lang="en-IN" dirty="0"/>
              <a:t> Understand overall business performance.</a:t>
            </a:r>
          </a:p>
          <a:p>
            <a:pPr>
              <a:lnSpc>
                <a:spcPct val="110000"/>
              </a:lnSpc>
            </a:pPr>
            <a:endParaRPr lang="en-IN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D1B0F8-B8CE-517D-5462-BCAEE289B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039" y="2161196"/>
            <a:ext cx="5620060" cy="315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37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A8712-3488-784C-8AFE-D6B586FB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43422C2-9C27-5F64-E0A7-9416EB788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501445"/>
            <a:ext cx="4390829" cy="806245"/>
          </a:xfrm>
        </p:spPr>
        <p:txBody>
          <a:bodyPr anchor="b">
            <a:normAutofit/>
          </a:bodyPr>
          <a:lstStyle/>
          <a:p>
            <a:r>
              <a:rPr lang="en-IN" dirty="0"/>
              <a:t>Booking Trends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A67578-F275-7F9B-24D1-0FF0C2CA4B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1799302"/>
            <a:ext cx="4889681" cy="3930937"/>
          </a:xfrm>
        </p:spPr>
        <p:txBody>
          <a:bodyPr>
            <a:normAutofit/>
          </a:bodyPr>
          <a:lstStyle/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200" dirty="0"/>
              <a:t>Booking value peaks in March (~4.57M), indicating the strongest monthly performance.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200" dirty="0"/>
              <a:t>February records the lowest value (~4.09M).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200" dirty="0"/>
              <a:t>A recovery occurs in October, followed by a gradual decline toward December.</a:t>
            </a:r>
          </a:p>
          <a:p>
            <a:pPr lvl="0"/>
            <a:r>
              <a:rPr lang="en-IN" sz="1200" dirty="0"/>
              <a:t>Overall, booking value fluctuates moderately throughout the year.</a:t>
            </a:r>
          </a:p>
          <a:p>
            <a:r>
              <a:rPr lang="en-IN" sz="1200" dirty="0"/>
              <a:t>Key Insight: Identify the factors driving March’s peak and February’s dip to improve revenue consistency and forecasting.</a:t>
            </a:r>
          </a:p>
          <a:p>
            <a:pPr>
              <a:lnSpc>
                <a:spcPct val="110000"/>
              </a:lnSpc>
            </a:pPr>
            <a:r>
              <a:rPr lang="en-IN" sz="1200" b="1" dirty="0"/>
              <a:t>Insight:</a:t>
            </a:r>
            <a:r>
              <a:rPr lang="en-IN" sz="1200" dirty="0"/>
              <a:t> Helps understand changing ride demand.</a:t>
            </a:r>
          </a:p>
          <a:p>
            <a:pPr>
              <a:lnSpc>
                <a:spcPct val="110000"/>
              </a:lnSpc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1C609C-4C2E-C51A-E883-4D96CCB3F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113" y="1425218"/>
            <a:ext cx="5916998" cy="345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02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0D439-F4AA-A7A1-A06D-6A2320E2E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F66D0A-1962-8D80-A52F-FF6A1680C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>
            <a:normAutofit/>
          </a:bodyPr>
          <a:lstStyle/>
          <a:p>
            <a:r>
              <a:rPr lang="en-IN" dirty="0"/>
              <a:t>Booking &amp; Payment Analysis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CFD397-6B7F-8234-EEED-F50AE5321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/>
          <a:p>
            <a:r>
              <a:rPr lang="en-IN" sz="1300" b="1"/>
              <a:t>Booking Status &amp; Payment Methods</a:t>
            </a:r>
            <a:endParaRPr lang="en-IN" sz="1300"/>
          </a:p>
          <a:p>
            <a:pPr lvl="0"/>
            <a:r>
              <a:rPr lang="en-IN" sz="1300" b="1"/>
              <a:t>UPI contributes the highest booking value</a:t>
            </a:r>
            <a:r>
              <a:rPr lang="en-IN" sz="1300"/>
              <a:t>, making it the dominant payment method. </a:t>
            </a:r>
          </a:p>
          <a:p>
            <a:pPr lvl="0"/>
            <a:r>
              <a:rPr lang="en-IN" sz="1300" b="1"/>
              <a:t>Cash</a:t>
            </a:r>
            <a:r>
              <a:rPr lang="en-IN" sz="1300"/>
              <a:t> is the second-highest contributor. </a:t>
            </a:r>
          </a:p>
          <a:p>
            <a:pPr lvl="0"/>
            <a:r>
              <a:rPr lang="en-IN" sz="1300" b="1"/>
              <a:t>Uber Wallet, Credit Card, and Debit Card</a:t>
            </a:r>
            <a:r>
              <a:rPr lang="en-IN" sz="1300"/>
              <a:t> contribute comparatively lower values. </a:t>
            </a:r>
          </a:p>
          <a:p>
            <a:pPr lvl="0"/>
            <a:r>
              <a:rPr lang="en-IN" sz="1300" b="1"/>
              <a:t>Key Insight:</a:t>
            </a:r>
            <a:r>
              <a:rPr lang="en-IN" sz="1300"/>
              <a:t> The business should prioritize and optimize </a:t>
            </a:r>
            <a:r>
              <a:rPr lang="en-IN" sz="1300" b="1"/>
              <a:t>UPI payments</a:t>
            </a:r>
            <a:r>
              <a:rPr lang="en-IN" sz="1300"/>
              <a:t>, while maintaining support for other payment options. </a:t>
            </a:r>
          </a:p>
          <a:p>
            <a:endParaRPr lang="en-IN" sz="13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E045A0-8BB7-697B-607D-3636248BD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045" y="2212237"/>
            <a:ext cx="7531644" cy="39164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3210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9C60-A081-473F-03B4-A7F3433FA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F33B9BA-CBC0-3D6D-1BA3-D64C58B1C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285135"/>
            <a:ext cx="4960617" cy="1396181"/>
          </a:xfrm>
        </p:spPr>
        <p:txBody>
          <a:bodyPr anchor="b">
            <a:normAutofit/>
          </a:bodyPr>
          <a:lstStyle/>
          <a:p>
            <a:r>
              <a:rPr lang="en-IN" dirty="0"/>
              <a:t>Cancellation Analysis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3F9AE22-AC8D-1766-B532-6026041D12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874206"/>
            <a:ext cx="3882511" cy="5697415"/>
          </a:xfrm>
        </p:spPr>
        <p:txBody>
          <a:bodyPr anchor="t">
            <a:normAutofit fontScale="77500" lnSpcReduction="20000"/>
          </a:bodyPr>
          <a:lstStyle/>
          <a:p>
            <a:r>
              <a:rPr lang="en-IN" sz="1800" b="1" dirty="0"/>
              <a:t>Customer Cancellation Analysis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Cancellations are fairly evenly distributed across major reasons.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Wrong address (22.5%)</a:t>
            </a:r>
            <a:r>
              <a:rPr lang="en-IN" dirty="0"/>
              <a:t> is the leading reason.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Change of plans (22.41%)</a:t>
            </a:r>
            <a:r>
              <a:rPr lang="en-IN" dirty="0"/>
              <a:t> and </a:t>
            </a:r>
            <a:r>
              <a:rPr lang="en-IN" b="1" dirty="0"/>
              <a:t>driver not moving toward pickup (22.24%)</a:t>
            </a:r>
            <a:r>
              <a:rPr lang="en-IN" dirty="0"/>
              <a:t> follow closely.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AC not working (11%)</a:t>
            </a:r>
            <a:r>
              <a:rPr lang="en-IN" dirty="0"/>
              <a:t> is the least common reason. </a:t>
            </a:r>
          </a:p>
          <a:p>
            <a:pPr marL="0" indent="0">
              <a:buNone/>
            </a:pPr>
            <a:r>
              <a:rPr lang="en-IN" b="1" dirty="0"/>
              <a:t>2.        </a:t>
            </a:r>
            <a:r>
              <a:rPr lang="en-IN" sz="1800" b="1" dirty="0"/>
              <a:t>Driver Cancellation Analysis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Driver cancellations are almost evenly distributed across all reasons.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Customer-related issues (25.32%)</a:t>
            </a:r>
            <a:r>
              <a:rPr lang="en-IN" dirty="0"/>
              <a:t> are the highest.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Customer illness (25%)</a:t>
            </a:r>
            <a:r>
              <a:rPr lang="en-IN" dirty="0"/>
              <a:t> and </a:t>
            </a:r>
            <a:r>
              <a:rPr lang="en-IN" b="1" dirty="0"/>
              <a:t>personal/car issues (24.91%)</a:t>
            </a:r>
            <a:r>
              <a:rPr lang="en-IN" dirty="0"/>
              <a:t> are close behind.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Excess passengers (24.76%)</a:t>
            </a:r>
            <a:r>
              <a:rPr lang="en-IN" dirty="0"/>
              <a:t> is also a significant contributor. </a:t>
            </a:r>
          </a:p>
          <a:p>
            <a:pPr marL="0" indent="0">
              <a:buNone/>
            </a:pPr>
            <a:r>
              <a:rPr lang="en-IN" b="1" dirty="0"/>
              <a:t>Key takeaway:</a:t>
            </a:r>
            <a:r>
              <a:rPr lang="en-IN" dirty="0"/>
              <a:t> Both charts show that cancellations have </a:t>
            </a:r>
            <a:r>
              <a:rPr lang="en-IN" b="1" dirty="0"/>
              <a:t>multiple contributing factors</a:t>
            </a:r>
            <a:r>
              <a:rPr lang="en-IN" dirty="0"/>
              <a:t>, so improvement should target several issues rather than one single cause.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7C94DE-7375-A8FF-D544-1404ACC2F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11" y="1813510"/>
            <a:ext cx="3882511" cy="21848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19C535-0FFE-CEA7-23CE-6C9C2E8E9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11" y="4130541"/>
            <a:ext cx="4960617" cy="251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81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peedometer">
            <a:extLst>
              <a:ext uri="{FF2B5EF4-FFF2-40B4-BE49-F238E27FC236}">
                <a16:creationId xmlns:a16="http://schemas.microsoft.com/office/drawing/2014/main" id="{C297C733-CD04-3077-0062-52FEE3988A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39"/>
          <a:stretch>
            <a:fillRect/>
          </a:stretch>
        </p:blipFill>
        <p:spPr>
          <a:xfrm>
            <a:off x="6789" y="-1"/>
            <a:ext cx="12192001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BDE395-89AE-1B46-1C66-612C74BD5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</p:spPr>
        <p:txBody>
          <a:bodyPr anchor="t">
            <a:normAutofit/>
          </a:bodyPr>
          <a:lstStyle/>
          <a:p>
            <a:r>
              <a:rPr lang="en-IN" sz="460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3B709-A352-2734-6610-131B6FCABC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</p:spPr>
        <p:txBody>
          <a:bodyPr anchor="b"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Reduce customer &amp; driver cancellations.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Optimize driver allocation during peak hours.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Prioritize high-demand vehicle types.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Improve service quality and driver performance.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Promote preferred payment methods.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Monitor booking trends for better forecasting.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Use ratings to identify service gaps.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3847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6D205-9CED-7DC8-AF88-74C501936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08D00AD-B0B0-744B-F0B7-A71AF1417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594947"/>
          </a:xfrm>
        </p:spPr>
        <p:txBody>
          <a:bodyPr anchor="b">
            <a:normAutofit/>
          </a:bodyPr>
          <a:lstStyle/>
          <a:p>
            <a:r>
              <a:rPr lang="en-IN" dirty="0"/>
              <a:t>Conclusion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02F70F-FF3F-363C-E393-ADE3F844A98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>
            <a:normAutofit/>
          </a:bodyPr>
          <a:lstStyle/>
          <a:p>
            <a:r>
              <a:rPr lang="en-IN" b="1" dirty="0"/>
              <a:t>Power BI converts ride-booking data into actionable business insights.</a:t>
            </a:r>
          </a:p>
          <a:p>
            <a:r>
              <a:rPr lang="en-IN" b="1" dirty="0"/>
              <a:t>Key Takeaways</a:t>
            </a:r>
            <a:endParaRPr lang="en-IN" dirty="0"/>
          </a:p>
          <a:p>
            <a:pPr lvl="0"/>
            <a:r>
              <a:rPr lang="en-IN" dirty="0"/>
              <a:t>Booking trends reveal demand patterns </a:t>
            </a:r>
          </a:p>
          <a:p>
            <a:pPr lvl="0"/>
            <a:r>
              <a:rPr lang="en-IN" dirty="0"/>
              <a:t>Cancellations highlight improvement areas </a:t>
            </a:r>
          </a:p>
          <a:p>
            <a:pPr lvl="0"/>
            <a:r>
              <a:rPr lang="en-IN" dirty="0"/>
              <a:t>Vehicle analysis supports resource optimisation </a:t>
            </a:r>
          </a:p>
          <a:p>
            <a:pPr lvl="0"/>
            <a:r>
              <a:rPr lang="en-IN" dirty="0"/>
              <a:t>Ratings help measure service quality </a:t>
            </a:r>
          </a:p>
          <a:p>
            <a:pPr lvl="0"/>
            <a:endParaRPr lang="en-IN" dirty="0"/>
          </a:p>
          <a:p>
            <a:endParaRPr lang="en-IN" dirty="0"/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pic>
        <p:nvPicPr>
          <p:cNvPr id="10" name="Picture 9" descr="Person holding a puzzle piece">
            <a:extLst>
              <a:ext uri="{FF2B5EF4-FFF2-40B4-BE49-F238E27FC236}">
                <a16:creationId xmlns:a16="http://schemas.microsoft.com/office/drawing/2014/main" id="{86F1BD1F-4D18-7FDB-DF0E-AE625C5AE3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79" r="27254" b="-1"/>
          <a:stretch>
            <a:fillRect/>
          </a:stretch>
        </p:blipFill>
        <p:spPr>
          <a:xfrm>
            <a:off x="7620000" y="10"/>
            <a:ext cx="457200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2226705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376</TotalTime>
  <Words>651</Words>
  <Application>Microsoft Office PowerPoint</Application>
  <PresentationFormat>Widescreen</PresentationFormat>
  <Paragraphs>80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Arial Nova Light</vt:lpstr>
      <vt:lpstr>Wingdings</vt:lpstr>
      <vt:lpstr>Dark Gradient</vt:lpstr>
      <vt:lpstr>NCR Ride Booking Analytics: Driving Insights Through Data</vt:lpstr>
      <vt:lpstr>Introduction</vt:lpstr>
      <vt:lpstr>Dashboard Key Insights</vt:lpstr>
      <vt:lpstr>Booking Overview</vt:lpstr>
      <vt:lpstr>Booking Trends</vt:lpstr>
      <vt:lpstr>Booking &amp; Payment Analysis</vt:lpstr>
      <vt:lpstr>Cancellation Analysis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 RIN</dc:creator>
  <cp:lastModifiedBy>JE RIN</cp:lastModifiedBy>
  <cp:revision>5</cp:revision>
  <dcterms:created xsi:type="dcterms:W3CDTF">2026-09-04T09:17:23Z</dcterms:created>
  <dcterms:modified xsi:type="dcterms:W3CDTF">2026-10-10T14:20:42Z</dcterms:modified>
</cp:coreProperties>
</file>